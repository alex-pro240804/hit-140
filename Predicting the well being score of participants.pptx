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73" r:id="rId9"/>
    <p:sldId id="275" r:id="rId10"/>
    <p:sldId id="276" r:id="rId11"/>
    <p:sldId id="262" r:id="rId12"/>
    <p:sldId id="263" r:id="rId13"/>
    <p:sldId id="264" r:id="rId14"/>
    <p:sldId id="266" r:id="rId15"/>
    <p:sldId id="267" r:id="rId16"/>
    <p:sldId id="268" r:id="rId17"/>
    <p:sldId id="269" r:id="rId18"/>
    <p:sldId id="270" r:id="rId19"/>
    <p:sldId id="271" r:id="rId20"/>
    <p:sldId id="278" r:id="rId21"/>
    <p:sldId id="272" r:id="rId22"/>
    <p:sldId id="277" r:id="rId23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5.png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image" Target="../media/image8.png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microsoft.com/office/2007/relationships/hdphoto" Target="../media/image7.wdp"/><Relationship Id="rId3" Type="http://schemas.openxmlformats.org/officeDocument/2006/relationships/image" Target="../media/image6.png"/><Relationship Id="rId2" Type="http://schemas.openxmlformats.org/officeDocument/2006/relationships/tags" Target="../tags/tag17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11.png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10.png"/><Relationship Id="rId4" Type="http://schemas.openxmlformats.org/officeDocument/2006/relationships/tags" Target="../tags/tag26.xml"/><Relationship Id="rId3" Type="http://schemas.openxmlformats.org/officeDocument/2006/relationships/image" Target="../media/image9.png"/><Relationship Id="rId2" Type="http://schemas.openxmlformats.org/officeDocument/2006/relationships/tags" Target="../tags/tag25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microsoft.com/office/2007/relationships/hdphoto" Target="../media/image4.wdp"/><Relationship Id="rId8" Type="http://schemas.openxmlformats.org/officeDocument/2006/relationships/image" Target="../media/image3.png"/><Relationship Id="rId7" Type="http://schemas.openxmlformats.org/officeDocument/2006/relationships/tags" Target="../tags/tag67.xml"/><Relationship Id="rId6" Type="http://schemas.microsoft.com/office/2007/relationships/hdphoto" Target="../media/image2.wdp"/><Relationship Id="rId5" Type="http://schemas.openxmlformats.org/officeDocument/2006/relationships/image" Target="../media/image1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5.png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9000">
                <a:schemeClr val="bg2">
                  <a:alpha val="0"/>
                </a:schemeClr>
              </a:gs>
              <a:gs pos="0">
                <a:schemeClr val="bg2">
                  <a:alpha val="99000"/>
                </a:schemeClr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28000"/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443401"/>
            <a:ext cx="12192000" cy="4407408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2067"/>
            <a:ext cx="12192000" cy="4410075"/>
          </a:xfrm>
          <a:prstGeom prst="rect">
            <a:avLst/>
          </a:prstGeom>
        </p:spPr>
      </p:pic>
      <p:sp>
        <p:nvSpPr>
          <p:cNvPr id="23" name="图形 21"/>
          <p:cNvSpPr/>
          <p:nvPr>
            <p:custDataLst>
              <p:tags r:id="rId9"/>
            </p:custDataLst>
          </p:nvPr>
        </p:nvSpPr>
        <p:spPr>
          <a:xfrm>
            <a:off x="2861210" y="3881380"/>
            <a:ext cx="9559390" cy="2840095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8245"/>
            <a:ext cx="12192000" cy="44100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1047750" y="1998900"/>
            <a:ext cx="10096500" cy="1296750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1047750" y="871061"/>
            <a:ext cx="10096500" cy="991949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1047750" y="3437514"/>
            <a:ext cx="10096500" cy="2067935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9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20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ctr" anchorCtr="0"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175" y="1588"/>
            <a:ext cx="12192000" cy="2847975"/>
          </a:xfrm>
          <a:prstGeom prst="rect">
            <a:avLst/>
          </a:prstGeom>
        </p:spPr>
      </p:pic>
      <p:sp>
        <p:nvSpPr>
          <p:cNvPr id="12" name="图形 21"/>
          <p:cNvSpPr/>
          <p:nvPr>
            <p:custDataLst>
              <p:tags r:id="rId5"/>
            </p:custDataLst>
          </p:nvPr>
        </p:nvSpPr>
        <p:spPr>
          <a:xfrm flipV="1">
            <a:off x="1661060" y="-396117"/>
            <a:ext cx="9559390" cy="2840095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4"/>
            <a:ext cx="12188825" cy="2888252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3175" y="-635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01738" y="565200"/>
            <a:ext cx="7770812" cy="16255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24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896302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963025" cy="6858000"/>
          </a:xfrm>
          <a:prstGeom prst="rect">
            <a:avLst/>
          </a:prstGeom>
        </p:spPr>
      </p:pic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>
            <a:off x="6146" y="1321249"/>
            <a:ext cx="6902245" cy="5536751"/>
          </a:xfrm>
          <a:custGeom>
            <a:avLst/>
            <a:gdLst>
              <a:gd name="connsiteX0" fmla="*/ 0 w 6411247"/>
              <a:gd name="connsiteY0" fmla="*/ 0 h 5212988"/>
              <a:gd name="connsiteX1" fmla="*/ 3539613 w 6411247"/>
              <a:gd name="connsiteY1" fmla="*/ 0 h 5212988"/>
              <a:gd name="connsiteX2" fmla="*/ 3539613 w 6411247"/>
              <a:gd name="connsiteY2" fmla="*/ 129392 h 5212988"/>
              <a:gd name="connsiteX3" fmla="*/ 3768950 w 6411247"/>
              <a:gd name="connsiteY3" fmla="*/ 139399 h 5212988"/>
              <a:gd name="connsiteX4" fmla="*/ 6411247 w 6411247"/>
              <a:gd name="connsiteY4" fmla="*/ 2669628 h 5212988"/>
              <a:gd name="connsiteX5" fmla="*/ 3768950 w 6411247"/>
              <a:gd name="connsiteY5" fmla="*/ 5199857 h 5212988"/>
              <a:gd name="connsiteX6" fmla="*/ 3539613 w 6411247"/>
              <a:gd name="connsiteY6" fmla="*/ 5209864 h 5212988"/>
              <a:gd name="connsiteX7" fmla="*/ 3539613 w 6411247"/>
              <a:gd name="connsiteY7" fmla="*/ 5212988 h 5212988"/>
              <a:gd name="connsiteX8" fmla="*/ 3468022 w 6411247"/>
              <a:gd name="connsiteY8" fmla="*/ 5212988 h 5212988"/>
              <a:gd name="connsiteX9" fmla="*/ 0 w 6411247"/>
              <a:gd name="connsiteY9" fmla="*/ 5212988 h 521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11247" h="5212988">
                <a:moveTo>
                  <a:pt x="0" y="0"/>
                </a:moveTo>
                <a:lnTo>
                  <a:pt x="3539613" y="0"/>
                </a:lnTo>
                <a:lnTo>
                  <a:pt x="3539613" y="129392"/>
                </a:lnTo>
                <a:lnTo>
                  <a:pt x="3768950" y="139399"/>
                </a:lnTo>
                <a:cubicBezTo>
                  <a:pt x="5253089" y="269645"/>
                  <a:pt x="6411247" y="1352760"/>
                  <a:pt x="6411247" y="2669628"/>
                </a:cubicBezTo>
                <a:cubicBezTo>
                  <a:pt x="6411247" y="3986496"/>
                  <a:pt x="5253089" y="5069612"/>
                  <a:pt x="3768950" y="5199857"/>
                </a:cubicBezTo>
                <a:lnTo>
                  <a:pt x="3539613" y="5209864"/>
                </a:lnTo>
                <a:lnTo>
                  <a:pt x="3539613" y="5212988"/>
                </a:lnTo>
                <a:lnTo>
                  <a:pt x="3468022" y="5212988"/>
                </a:lnTo>
                <a:lnTo>
                  <a:pt x="0" y="5212988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13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482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896302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3581400" y="4956400"/>
            <a:ext cx="7772400" cy="990150"/>
          </a:xfrm>
        </p:spPr>
        <p:txBody>
          <a:bodyPr anchor="b">
            <a:normAutofit/>
          </a:bodyPr>
          <a:lstStyle>
            <a:lvl1pPr algn="r">
              <a:defRPr sz="3600" b="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5467350" y="177887"/>
            <a:ext cx="5886450" cy="1467125"/>
          </a:xfrm>
        </p:spPr>
        <p:txBody>
          <a:bodyPr wrap="none" anchor="b">
            <a:noAutofit/>
          </a:bodyPr>
          <a:lstStyle>
            <a:lvl1pPr marL="0" indent="0" algn="r">
              <a:buNone/>
              <a:defRPr sz="6600" b="1">
                <a:solidFill>
                  <a:schemeClr val="accent1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ctr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 algn="ctr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ctr" anchorCtr="0"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00"/>
            <a:ext cx="10799088" cy="864000"/>
          </a:xfrm>
        </p:spPr>
        <p:txBody>
          <a:bodyPr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49996"/>
          </a:xfrm>
          <a:prstGeom prst="rect">
            <a:avLst/>
          </a:prstGeom>
          <a:gradFill flip="none" rotWithShape="1">
            <a:gsLst>
              <a:gs pos="59000">
                <a:schemeClr val="bg1">
                  <a:alpha val="40000"/>
                </a:schemeClr>
              </a:gs>
              <a:gs pos="0">
                <a:schemeClr val="bg2"/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9000">
                <a:schemeClr val="bg1">
                  <a:alpha val="40000"/>
                </a:schemeClr>
              </a:gs>
              <a:gs pos="0">
                <a:schemeClr val="bg2"/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28000"/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443401"/>
            <a:ext cx="12192000" cy="4407408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2067"/>
            <a:ext cx="12192000" cy="4410075"/>
          </a:xfrm>
          <a:prstGeom prst="rect">
            <a:avLst/>
          </a:prstGeom>
        </p:spPr>
      </p:pic>
      <p:sp>
        <p:nvSpPr>
          <p:cNvPr id="20" name="图形 21"/>
          <p:cNvSpPr/>
          <p:nvPr>
            <p:custDataLst>
              <p:tags r:id="rId10"/>
            </p:custDataLst>
          </p:nvPr>
        </p:nvSpPr>
        <p:spPr>
          <a:xfrm>
            <a:off x="2861210" y="3881380"/>
            <a:ext cx="9559390" cy="2840095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8245"/>
            <a:ext cx="12192000" cy="44100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1028700" y="598536"/>
            <a:ext cx="9239250" cy="2799325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028700" y="4096935"/>
            <a:ext cx="7143750" cy="1225776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9.xml"/><Relationship Id="rId18" Type="http://schemas.openxmlformats.org/officeDocument/2006/relationships/image" Target="../media/image8.png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microsoft.com/office/2007/relationships/hdphoto" Target="../media/image7.wdp"/><Relationship Id="rId14" Type="http://schemas.openxmlformats.org/officeDocument/2006/relationships/image" Target="../media/image6.png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3175" y="-635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02710" y="-5186"/>
            <a:ext cx="5097893" cy="1190836"/>
          </a:xfrm>
          <a:prstGeom prst="rect">
            <a:avLst/>
          </a:prstGeom>
        </p:spPr>
      </p:pic>
      <p:sp>
        <p:nvSpPr>
          <p:cNvPr id="12" name="图形 21"/>
          <p:cNvSpPr/>
          <p:nvPr>
            <p:custDataLst>
              <p:tags r:id="rId16"/>
            </p:custDataLst>
          </p:nvPr>
        </p:nvSpPr>
        <p:spPr>
          <a:xfrm flipV="1">
            <a:off x="7798584" y="-171480"/>
            <a:ext cx="3997108" cy="118754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16" y="-5186"/>
            <a:ext cx="5097893" cy="119083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12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" Type="http://schemas.openxmlformats.org/officeDocument/2006/relationships/image" Target="../media/image13.png"/><Relationship Id="rId1" Type="http://schemas.openxmlformats.org/officeDocument/2006/relationships/tags" Target="../tags/tag10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1.xml"/><Relationship Id="rId3" Type="http://schemas.openxmlformats.org/officeDocument/2006/relationships/image" Target="../media/image14.png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2.xml"/><Relationship Id="rId3" Type="http://schemas.openxmlformats.org/officeDocument/2006/relationships/image" Target="../media/image15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wrap="square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4000" dirty="0">
                <a:latin typeface="+mj-lt"/>
              </a:rPr>
              <a:t>Predicting the well being score of participants</a:t>
            </a:r>
            <a:endParaRPr lang="en-US" sz="4000" dirty="0">
              <a:latin typeface="+mj-lt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pPr marL="0" lv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Using Linear Rregression Modelling</a:t>
            </a:r>
            <a:endParaRPr lang="en-US" sz="240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This analysis aims to predict the well-being score of participants based on their screen time using statistical and data science techniques.</a:t>
            </a:r>
            <a:endParaRPr lang="en-US"/>
          </a:p>
          <a:p>
            <a:r>
              <a:rPr lang="en-US"/>
              <a:t>We will apply data exploration, visualization, and linear regression modeling to uncover the relationship between screen time (e.g., computer, video games, smartphones, TV) and well-being.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Objectives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Explore the dataset to understand the relationships between screen time and well-being scores.</a:t>
            </a:r>
            <a:endParaRPr lang="en-US"/>
          </a:p>
          <a:p>
            <a:r>
              <a:rPr lang="en-US"/>
              <a:t>Visualize data to identify trends, outliers, and patterns.</a:t>
            </a:r>
            <a:endParaRPr lang="en-US"/>
          </a:p>
          <a:p>
            <a:r>
              <a:rPr lang="en-US"/>
              <a:t>Build a linear regression model to predict well-being scores based on screen time variables.</a:t>
            </a:r>
            <a:endParaRPr lang="en-US"/>
          </a:p>
          <a:p>
            <a:r>
              <a:rPr lang="en-US"/>
              <a:t>Evaluate model performance using metrics such as Mean Squared Error (MSE) and R-Squared.</a:t>
            </a:r>
            <a:endParaRPr lang="en-US"/>
          </a:p>
          <a:p>
            <a:r>
              <a:rPr lang="en-US"/>
              <a:t>Interpret the results and draw conclusions regarding the impact of screen time on well-being.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Linear Regression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sz="2400"/>
              <a:t>Linear Regression is a simple and commonly used method to model the relationship between a </a:t>
            </a:r>
            <a:r>
              <a:rPr lang="en-US" sz="2400" b="1"/>
              <a:t>dependent variable (outcome)</a:t>
            </a:r>
            <a:r>
              <a:rPr lang="en-US" sz="2400"/>
              <a:t> and one or more independent </a:t>
            </a:r>
            <a:r>
              <a:rPr lang="en-US" sz="2400" b="1"/>
              <a:t>variables (predictors).</a:t>
            </a:r>
            <a:r>
              <a:rPr lang="en-US" sz="2400"/>
              <a:t> The objective is to find the linear equation that best describes how the dependent variable changes as the independent variables change.</a:t>
            </a:r>
            <a:endParaRPr lang="en-US" sz="2400"/>
          </a:p>
          <a:p>
            <a:endParaRPr lang="en-US" sz="2400"/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197610" y="17221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405" y="3571240"/>
            <a:ext cx="3368040" cy="26060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where,</a:t>
            </a:r>
            <a:endParaRPr lang="en-US"/>
          </a:p>
          <a:p>
            <a:r>
              <a:rPr lang="en-US"/>
              <a:t>x is Independent Variable, Plotted along X-axis</a:t>
            </a:r>
            <a:endParaRPr lang="en-US"/>
          </a:p>
          <a:p>
            <a:r>
              <a:rPr lang="en-US"/>
              <a:t>y is Dependent Variable, Plotted along Y-axis</a:t>
            </a:r>
            <a:endParaRPr lang="en-US"/>
          </a:p>
          <a:p>
            <a:r>
              <a:rPr lang="en-US"/>
              <a:t>The slope of the regression line is “b”, and the intercept value of regression line is “a”(the value of y when x = 0).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75335" y="3726180"/>
            <a:ext cx="10209530" cy="1266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Least square method is the most common method used to fit a regression line, in the X-Y graph. In this process we determines the line of best fit by reducing the sum of the squares of the vertical deviations from each data point to the line.</a:t>
            </a:r>
            <a:endParaRPr lang="en-US"/>
          </a:p>
          <a:p>
            <a:endParaRPr lang="en-US"/>
          </a:p>
          <a:p>
            <a:r>
              <a:rPr lang="en-US"/>
              <a:t>With the regression line, which is the approximately close to all the points scattered around the graph, we can evaluate the value of our </a:t>
            </a:r>
            <a:r>
              <a:rPr lang="en-US" b="1"/>
              <a:t>response variable</a:t>
            </a:r>
            <a:endParaRPr lang="en-US" b="1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Datasets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b="1"/>
              <a:t>Dataset 1: </a:t>
            </a:r>
            <a:r>
              <a:rPr lang="en-US"/>
              <a:t>Demographic information of 120,000 adolescent respondents.</a:t>
            </a:r>
            <a:endParaRPr lang="en-US"/>
          </a:p>
          <a:p>
            <a:r>
              <a:rPr lang="en-US" b="1"/>
              <a:t>Dataset 2: </a:t>
            </a:r>
            <a:r>
              <a:rPr lang="en-US"/>
              <a:t>Daily digital screen time for approximately 113,000 respondents, including:</a:t>
            </a:r>
            <a:endParaRPr lang="en-US"/>
          </a:p>
          <a:p>
            <a:pPr lvl="1"/>
            <a:r>
              <a:rPr lang="en-US" b="1"/>
              <a:t>C_we:</a:t>
            </a:r>
            <a:r>
              <a:rPr lang="en-US"/>
              <a:t> Computer usage on weekends.</a:t>
            </a:r>
            <a:endParaRPr lang="en-US"/>
          </a:p>
          <a:p>
            <a:pPr lvl="1"/>
            <a:r>
              <a:rPr lang="en-US" b="1"/>
              <a:t>G_we:</a:t>
            </a:r>
            <a:r>
              <a:rPr lang="en-US"/>
              <a:t> Video game usage on weekends.</a:t>
            </a:r>
            <a:endParaRPr lang="en-US"/>
          </a:p>
          <a:p>
            <a:pPr lvl="1"/>
            <a:r>
              <a:rPr lang="en-US" b="1"/>
              <a:t>S_we:</a:t>
            </a:r>
            <a:r>
              <a:rPr lang="en-US"/>
              <a:t> Smartphone usage on weekends.</a:t>
            </a:r>
            <a:endParaRPr lang="en-US"/>
          </a:p>
          <a:p>
            <a:pPr lvl="1"/>
            <a:r>
              <a:rPr lang="en-US" b="1"/>
              <a:t>T_we:</a:t>
            </a:r>
            <a:r>
              <a:rPr lang="en-US"/>
              <a:t> TV usage on weekends.</a:t>
            </a:r>
            <a:endParaRPr lang="en-US"/>
          </a:p>
          <a:p>
            <a:r>
              <a:rPr lang="en-US" b="1"/>
              <a:t>Dataset 3: </a:t>
            </a:r>
            <a:r>
              <a:rPr lang="en-US"/>
              <a:t>Self-reported well-being indicators for 102,580 respondents, including:</a:t>
            </a:r>
            <a:endParaRPr lang="en-US"/>
          </a:p>
          <a:p>
            <a:pPr lvl="1"/>
            <a:r>
              <a:rPr lang="en-US" b="1"/>
              <a:t>Optm: </a:t>
            </a:r>
            <a:r>
              <a:rPr lang="en-US"/>
              <a:t>Feeling optimistic about the future (target variable for prediction).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Descriptive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/>
              <a:t>Correlation Matrix Heatmap</a:t>
            </a:r>
            <a:endParaRPr lang="en-US"/>
          </a:p>
          <a:p>
            <a:r>
              <a:rPr lang="en-US"/>
              <a:t>A correlation heatmap is a graphical representation of the correlation matrix. It </a:t>
            </a:r>
            <a:r>
              <a:rPr lang="en-US" b="1"/>
              <a:t>uses color gradients to visualize the strength and direction of the relationship </a:t>
            </a:r>
            <a:r>
              <a:rPr lang="en-US"/>
              <a:t>(correlation) between multiple variables in a dataset. The heatmap helps quickly identify which pairs of variables are highly correlated and whether their correlation is positive or negative.</a:t>
            </a:r>
            <a:endParaRPr lang="en-US"/>
          </a:p>
          <a:p>
            <a:r>
              <a:rPr lang="en-US"/>
              <a:t>Below is a small portion of correlation heatmap which presents the relationship between two variables.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360" y="322580"/>
            <a:ext cx="7254875" cy="59823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b="1"/>
              <a:t>Observations:</a:t>
            </a:r>
            <a:endParaRPr lang="en-US" b="1"/>
          </a:p>
          <a:p>
            <a:r>
              <a:rPr lang="en-US" b="1"/>
              <a:t>C_we</a:t>
            </a:r>
            <a:r>
              <a:rPr lang="en-US"/>
              <a:t> and </a:t>
            </a:r>
            <a:r>
              <a:rPr lang="en-US" b="1"/>
              <a:t>C_wk</a:t>
            </a:r>
            <a:r>
              <a:rPr lang="en-US"/>
              <a:t> (computer usage on weekends and weekdays) show a strong positive correlation (0.84), meaning adolescents who spend more time on computers on weekends also tend to do so on weekdays.</a:t>
            </a:r>
            <a:endParaRPr lang="en-US"/>
          </a:p>
          <a:p>
            <a:r>
              <a:rPr lang="en-US" b="1"/>
              <a:t>S_we</a:t>
            </a:r>
            <a:r>
              <a:rPr lang="en-US"/>
              <a:t> and</a:t>
            </a:r>
            <a:r>
              <a:rPr lang="en-US" b="1"/>
              <a:t> S_wk</a:t>
            </a:r>
            <a:r>
              <a:rPr lang="en-US"/>
              <a:t> (smartphone usage) have a similarly strong positive correlation (0.91).</a:t>
            </a:r>
            <a:endParaRPr lang="en-US"/>
          </a:p>
          <a:p>
            <a:r>
              <a:rPr lang="en-US"/>
              <a:t>Weak negative correlations exist between </a:t>
            </a:r>
            <a:r>
              <a:rPr lang="en-US" b="1"/>
              <a:t>screen time</a:t>
            </a:r>
            <a:r>
              <a:rPr lang="en-US"/>
              <a:t> (especially smartphone usage) and </a:t>
            </a:r>
            <a:r>
              <a:rPr lang="en-US" b="1"/>
              <a:t>well-being</a:t>
            </a:r>
            <a:r>
              <a:rPr lang="en-US"/>
              <a:t> indicators like optimism and cheerfulness.</a:t>
            </a:r>
            <a:endParaRPr lang="en-US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The negative correlations seen tell us that screentime could be affecting wellbeing in a negative way.</a:t>
            </a:r>
            <a:endParaRPr lang="en-US" b="1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Using linear regression to predict well being.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b="1"/>
              <a:t>Exploratory Data Analysis (EDA) </a:t>
            </a:r>
            <a:r>
              <a:rPr lang="en-US"/>
              <a:t>helps identify patterns in the data:</a:t>
            </a:r>
            <a:endParaRPr lang="en-US"/>
          </a:p>
          <a:p>
            <a:pPr lvl="1"/>
            <a:r>
              <a:rPr lang="en-US"/>
              <a:t>Summary statistics of screen time variables and well-being scores.</a:t>
            </a:r>
            <a:endParaRPr lang="en-US"/>
          </a:p>
          <a:p>
            <a:pPr lvl="1"/>
            <a:r>
              <a:rPr lang="en-US"/>
              <a:t>Checking for missing values and handling them appropriately.</a:t>
            </a:r>
            <a:endParaRPr lang="en-US"/>
          </a:p>
          <a:p>
            <a:pPr lvl="1"/>
            <a:r>
              <a:rPr lang="en-US"/>
              <a:t>Identifying outliers in the data through visualizations.</a:t>
            </a:r>
            <a:endParaRPr lang="en-US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05" y="3900170"/>
            <a:ext cx="4472940" cy="19310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Explanation of steps.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35610" y="1080135"/>
            <a:ext cx="11282045" cy="549973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1900" b="1"/>
              <a:t>Calculate Total Screen Time:</a:t>
            </a:r>
            <a:endParaRPr lang="en-US" sz="1900" b="1"/>
          </a:p>
          <a:p>
            <a:r>
              <a:rPr lang="en-US" sz="1900"/>
              <a:t>Total screen time is calculated by summing the screen time spent on weekdays and weekends for computers, video games, smartphones, and TV.</a:t>
            </a:r>
            <a:endParaRPr lang="en-US" sz="1900"/>
          </a:p>
          <a:p>
            <a:pPr marL="0" indent="0">
              <a:buNone/>
            </a:pPr>
            <a:r>
              <a:rPr lang="en-US" sz="1900" b="1"/>
              <a:t>Scatter Plot:</a:t>
            </a:r>
            <a:endParaRPr lang="en-US" sz="1900" b="1"/>
          </a:p>
          <a:p>
            <a:r>
              <a:rPr lang="en-US" sz="1900"/>
              <a:t>The scatter plot visualizes the relationship between total screen time and the combined well-being score. This will show if there’s a downward trend, indicating a negative correlation.</a:t>
            </a:r>
            <a:endParaRPr lang="en-US" sz="1900"/>
          </a:p>
          <a:p>
            <a:pPr marL="0" indent="0">
              <a:buNone/>
            </a:pPr>
            <a:r>
              <a:rPr lang="en-US" sz="1900" b="1"/>
              <a:t>Prepare Data for Linear Regression:</a:t>
            </a:r>
            <a:endParaRPr lang="en-US" sz="1900" b="1"/>
          </a:p>
          <a:p>
            <a:r>
              <a:rPr lang="en-US" sz="1900"/>
              <a:t>X: The independent variable is the total screen time.</a:t>
            </a:r>
            <a:endParaRPr lang="en-US" sz="1900"/>
          </a:p>
          <a:p>
            <a:r>
              <a:rPr lang="en-US" sz="1900"/>
              <a:t>y: The dependent variable is the combined well-being score.</a:t>
            </a:r>
            <a:endParaRPr lang="en-US" sz="1900"/>
          </a:p>
          <a:p>
            <a:pPr marL="0" indent="0">
              <a:buNone/>
            </a:pPr>
            <a:r>
              <a:rPr lang="en-US" sz="1900" b="1"/>
              <a:t>Fit the Linear Regression Model:</a:t>
            </a:r>
            <a:endParaRPr lang="en-US" sz="1900" b="1"/>
          </a:p>
          <a:p>
            <a:r>
              <a:rPr lang="en-US" sz="1900"/>
              <a:t>The linear regression model is created using LinearRegression() from sklearn. The model is trained on 80% of the data and evaluated on the remaining 20%.</a:t>
            </a:r>
            <a:endParaRPr lang="en-US" sz="1900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965" y="327660"/>
            <a:ext cx="11233785" cy="639762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1900" b="1"/>
              <a:t>Evaluate the Model:</a:t>
            </a:r>
            <a:endParaRPr lang="en-US" sz="1900" b="1"/>
          </a:p>
          <a:p>
            <a:r>
              <a:rPr lang="en-US" sz="1900"/>
              <a:t>Mean Squared Error (MSE): Measures how well the model predicts the well-being score. A lower MSE indicates better predictions.</a:t>
            </a:r>
            <a:endParaRPr lang="en-US" sz="1900"/>
          </a:p>
          <a:p>
            <a:r>
              <a:rPr lang="en-US" sz="1900"/>
              <a:t>R-Squared (R²): Represents the proportion of the variance in well-being scores that can be explained by total screen time. A low R-squared suggests that other factors besides screen time might affect well-being.</a:t>
            </a:r>
            <a:endParaRPr lang="en-US" sz="1900"/>
          </a:p>
          <a:p>
            <a:pPr marL="0" indent="0">
              <a:buNone/>
            </a:pPr>
            <a:r>
              <a:rPr lang="en-US" sz="1900" b="1"/>
              <a:t>Plot the Regression Line:</a:t>
            </a:r>
            <a:endParaRPr lang="en-US" sz="1900" b="1"/>
          </a:p>
          <a:p>
            <a:r>
              <a:rPr lang="en-US" sz="1900"/>
              <a:t>The regression line is plotted on the scatter plot, showing the overall trend of how total screen time affects well-being.</a:t>
            </a:r>
            <a:endParaRPr lang="en-US" sz="1900"/>
          </a:p>
          <a:p>
            <a:pPr marL="0" indent="0">
              <a:buNone/>
            </a:pPr>
            <a:r>
              <a:rPr lang="en-US" sz="1900" b="1"/>
              <a:t>Print Model Coefficients:</a:t>
            </a:r>
            <a:endParaRPr lang="en-US" sz="1900" b="1"/>
          </a:p>
          <a:p>
            <a:r>
              <a:rPr lang="en-US" sz="1900"/>
              <a:t>The intercept represents the baseline well-being score when screen time is zero.</a:t>
            </a:r>
            <a:endParaRPr lang="en-US" sz="1900"/>
          </a:p>
          <a:p>
            <a:r>
              <a:rPr lang="en-US" sz="1900"/>
              <a:t>The coefficient for screen time tells us how much the well-being score changes for each additional hour spent on screens. A negative coefficient would indicate that increased screen time is associated with lower well-being.</a:t>
            </a:r>
            <a:endParaRPr lang="en-US" sz="1900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Expected Results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Scatter Plot:</a:t>
            </a:r>
            <a:endParaRPr lang="en-US" b="1"/>
          </a:p>
          <a:p>
            <a:r>
              <a:rPr lang="en-US"/>
              <a:t>The scatter plot should show a negative trend if there’s a negative relationship between total screen time and well-being scores. This can be reinforced by the linear regression line on the plot.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gression 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6245"/>
            <a:ext cx="12192000" cy="59848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Outcomes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Model Coefficients:</a:t>
            </a:r>
            <a:endParaRPr lang="en-US" b="1"/>
          </a:p>
          <a:p>
            <a:r>
              <a:rPr lang="en-US"/>
              <a:t>If the coefficient for screen time is negative, it indicates that increased screen time leads to a decrease in well-being.</a:t>
            </a:r>
            <a:endParaRPr lang="en-US"/>
          </a:p>
          <a:p>
            <a:pPr marL="0" indent="0">
              <a:buNone/>
            </a:pPr>
            <a:r>
              <a:rPr lang="en-US"/>
              <a:t>We obtained:</a:t>
            </a:r>
            <a:endParaRPr lang="en-US"/>
          </a:p>
          <a:p>
            <a:pPr marL="0" indent="0">
              <a:buNone/>
            </a:pPr>
            <a:r>
              <a:rPr lang="en-US" b="1"/>
              <a:t>Intercept (β₀): 3.5898</a:t>
            </a:r>
            <a:r>
              <a:rPr lang="en-US"/>
              <a:t> : This means assuming no screen time is used. A score of 3.59 suggests a neutral to slightly positive well-being score</a:t>
            </a:r>
            <a:endParaRPr lang="en-US"/>
          </a:p>
          <a:p>
            <a:pPr marL="0" indent="0">
              <a:buNone/>
            </a:pPr>
            <a:r>
              <a:rPr lang="en-US" b="1"/>
              <a:t>Coeffiecient of Total Screen Time= -0.0096:</a:t>
            </a:r>
            <a:endParaRPr lang="en-US" b="1"/>
          </a:p>
          <a:p>
            <a:pPr marL="0" indent="0">
              <a:buNone/>
            </a:pPr>
            <a:r>
              <a:rPr lang="en-US"/>
              <a:t>For every 1 additional hour spent on screens per week, the predicted well-being score decreases by 0.0096 units.Over time, </a:t>
            </a:r>
            <a:r>
              <a:rPr lang="en-US" b="1"/>
              <a:t>as total screen time increases significantly, this negative effect on well-being may become more pronounced.</a:t>
            </a:r>
            <a:endParaRPr 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15010" y="1301749"/>
            <a:ext cx="10800000" cy="487362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b="1"/>
              <a:t>Mean Squared Error (MSE): 0.4899</a:t>
            </a:r>
            <a:endParaRPr lang="en-US" b="1"/>
          </a:p>
          <a:p>
            <a:pPr marL="0" indent="0">
              <a:buNone/>
            </a:pPr>
            <a:r>
              <a:rPr lang="en-US"/>
              <a:t>MSE measures the average squared difference between the actual well-being scores and the predicted well-being scores.</a:t>
            </a:r>
            <a:endParaRPr lang="en-US"/>
          </a:p>
          <a:p>
            <a:pPr marL="0" indent="0">
              <a:buNone/>
            </a:pPr>
            <a:r>
              <a:rPr lang="en-US"/>
              <a:t>An </a:t>
            </a:r>
            <a:r>
              <a:rPr lang="en-US" b="1"/>
              <a:t>MSE of 0.4899 </a:t>
            </a:r>
            <a:r>
              <a:rPr lang="en-US"/>
              <a:t>means that, on average, the model's predictions are off by about </a:t>
            </a:r>
            <a:r>
              <a:rPr lang="en-US" b="1"/>
              <a:t>0.49</a:t>
            </a:r>
            <a:r>
              <a:rPr lang="en-US"/>
              <a:t> units from the actual well-being scores.</a:t>
            </a:r>
            <a:endParaRPr lang="en-US"/>
          </a:p>
          <a:p>
            <a:pPr marL="0" indent="0">
              <a:buNone/>
            </a:pPr>
            <a:r>
              <a:rPr lang="en-US" b="1"/>
              <a:t>Interpretation: </a:t>
            </a:r>
            <a:r>
              <a:rPr lang="en-US"/>
              <a:t>Although the MSE is relatively low, it should be compared against other models to evaluate whether this is a good fit for the data.</a:t>
            </a:r>
            <a:endParaRPr lang="en-US"/>
          </a:p>
          <a:p>
            <a:pPr marL="0" indent="0">
              <a:buNone/>
            </a:pPr>
            <a:r>
              <a:rPr lang="en-US" b="1"/>
              <a:t>R-Squared (R²): 0.0159</a:t>
            </a:r>
            <a:endParaRPr lang="en-US" b="1"/>
          </a:p>
          <a:p>
            <a:pPr marL="0" indent="0">
              <a:buNone/>
            </a:pPr>
            <a:r>
              <a:rPr lang="en-US"/>
              <a:t>R² indicates how much of the variance in the well-being scores is explained by the total screen time.</a:t>
            </a:r>
            <a:endParaRPr lang="en-US"/>
          </a:p>
          <a:p>
            <a:pPr marL="0" indent="0">
              <a:buNone/>
            </a:pPr>
            <a:r>
              <a:rPr lang="en-US"/>
              <a:t>An R² value of </a:t>
            </a:r>
            <a:r>
              <a:rPr lang="en-US" b="1"/>
              <a:t>0.0159</a:t>
            </a:r>
            <a:r>
              <a:rPr lang="en-US"/>
              <a:t> means that only </a:t>
            </a:r>
            <a:r>
              <a:rPr lang="en-US" b="1"/>
              <a:t>1.59%</a:t>
            </a:r>
            <a:r>
              <a:rPr lang="en-US"/>
              <a:t> of the variation in well-being scores can be explained by screen time alone.</a:t>
            </a:r>
            <a:endParaRPr lang="en-US"/>
          </a:p>
          <a:p>
            <a:pPr marL="0" indent="0">
              <a:buNone/>
            </a:pPr>
            <a:r>
              <a:rPr lang="en-US" b="1"/>
              <a:t>Interpretation: </a:t>
            </a:r>
            <a:r>
              <a:rPr lang="en-US"/>
              <a:t>This is a very low R², indicating that screen time is not a strong predictor of well-being. Other factors not included in this model likely play a larger role in determining well-being.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Key Insights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b="1"/>
              <a:t>Low Predictive Power:</a:t>
            </a:r>
            <a:endParaRPr lang="en-US" b="1"/>
          </a:p>
          <a:p>
            <a:r>
              <a:rPr lang="en-US"/>
              <a:t>The low R-squared </a:t>
            </a:r>
            <a:r>
              <a:rPr lang="en-US" b="1"/>
              <a:t>(0.0159)</a:t>
            </a:r>
            <a:r>
              <a:rPr lang="en-US"/>
              <a:t> indicates that screen time alone does not strongly explain the variation in well-being scores. This suggests that other factors (e.g., mental health, social interactions, sleep quality) are likely much more important in determining well-being.</a:t>
            </a:r>
            <a:endParaRPr lang="en-US"/>
          </a:p>
          <a:p>
            <a:pPr marL="0" indent="0">
              <a:buNone/>
            </a:pPr>
            <a:r>
              <a:rPr lang="en-US" b="1"/>
              <a:t>Negative Relationship with Screen Time:</a:t>
            </a:r>
            <a:endParaRPr lang="en-US" b="1"/>
          </a:p>
          <a:p>
            <a:r>
              <a:rPr lang="en-US"/>
              <a:t>The negative coefficient for screen time </a:t>
            </a:r>
            <a:r>
              <a:rPr lang="en-US" b="1"/>
              <a:t>(-0.0096) </a:t>
            </a:r>
            <a:r>
              <a:rPr lang="en-US"/>
              <a:t>suggests that, on average, more screen time is associated with slightly lower well-being.</a:t>
            </a:r>
            <a:endParaRPr lang="en-US"/>
          </a:p>
          <a:p>
            <a:r>
              <a:rPr lang="en-US"/>
              <a:t>Although the effect is small, it indicates that increased screen time can have a negative impact on well-being over time.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Small Effect Size:</a:t>
            </a:r>
            <a:endParaRPr lang="en-US" b="1"/>
          </a:p>
          <a:p>
            <a:r>
              <a:rPr lang="en-US"/>
              <a:t>While the negative relationship exists, the small effect size suggests that screen time alone might not significantly affect well-being, or its effect might be diluted when other variables (e.g., mental health, social relationships) are considered.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Implications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/>
              <a:t>Based on our dataset, the linear regression test shows that screen time has a </a:t>
            </a:r>
            <a:r>
              <a:rPr lang="en-US" b="1"/>
              <a:t>very small negative impact on optimism</a:t>
            </a:r>
            <a:r>
              <a:rPr lang="en-US"/>
              <a:t>, but the effect is negligible. With an R-squared of only 0.0159, the model explains very little variance in optimism (about 1.59%). This suggests that screen time alone is not a significant predictor of well-being, and other factors likely play a more important role in influencing optimism.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While the model shows a negative relationship between screen time and well-being, the low R-squared value suggests that other factors are likely more important in determining well-being.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Other factors that could significantly influence well-being, particularly optimism, include:</a:t>
            </a:r>
            <a:endParaRPr lang="en-US"/>
          </a:p>
          <a:p>
            <a:r>
              <a:rPr lang="en-US" b="1"/>
              <a:t>Social Relationships:</a:t>
            </a:r>
            <a:r>
              <a:rPr lang="en-US"/>
              <a:t> Quality of interactions with family, friends, and peers.</a:t>
            </a:r>
            <a:endParaRPr lang="en-US"/>
          </a:p>
          <a:p>
            <a:r>
              <a:rPr lang="en-US" b="1"/>
              <a:t>Mental Health:</a:t>
            </a:r>
            <a:r>
              <a:rPr lang="en-US"/>
              <a:t> Anxiety, depression, and overall emotional well-being.</a:t>
            </a:r>
            <a:endParaRPr lang="en-US"/>
          </a:p>
          <a:p>
            <a:r>
              <a:rPr lang="en-US" b="1"/>
              <a:t>Physical Activity:</a:t>
            </a:r>
            <a:r>
              <a:rPr lang="en-US"/>
              <a:t> Exercise and fitness levels are known to boost mood and well-being.</a:t>
            </a:r>
            <a:endParaRPr lang="en-US"/>
          </a:p>
          <a:p>
            <a:r>
              <a:rPr lang="en-US" b="1"/>
              <a:t>Sleep Quality:</a:t>
            </a:r>
            <a:r>
              <a:rPr lang="en-US"/>
              <a:t> Poor sleep can negatively affect mental health and optimism.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6000">
                <a:latin typeface="+mj-lt"/>
              </a:rPr>
              <a:t>Thankyou</a:t>
            </a:r>
            <a:endParaRPr lang="en-US" sz="6000">
              <a:latin typeface="+mj-lt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3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23_1*a*1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The title goes here"/>
</p:tagLst>
</file>

<file path=ppt/tags/tag86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23_1*f*4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Name"/>
</p:tagLst>
</file>

<file path=ppt/tags/tag8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2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23"/>
  <p:tag name="KSO_WM_SLIDE_LAYOUT" val="a_b_f"/>
  <p:tag name="KSO_WM_SLIDE_LAYOUT_CNT" val="1_1_1"/>
  <p:tag name="KSO_WM_SLIDE_THEME_ID" val="3321273"/>
  <p:tag name="KSO_WM_SLIDE_THEME_NAME" val="Z_20238023_Green Gradient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0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SLIDE_THEME_ID" val="3321273"/>
  <p:tag name="KSO_WM_SLIDE_THEME_NAME" val="Z_20238023_Green Gradient"/>
  <p:tag name="KSO_WM_SLIDE_TYPE" val="text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23_9*a*1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THANK YOU"/>
</p:tagLst>
</file>

<file path=ppt/tags/tag143.xml><?xml version="1.0" encoding="utf-8"?>
<p:tagLst xmlns:p="http://schemas.openxmlformats.org/presentationml/2006/main">
  <p:tag name="KSO_WM_SPECIAL_SOURCE" val="bdnull"/>
  <p:tag name="KSO_WM_SLIDE_ID" val="custom20238023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023"/>
  <p:tag name="KSO_WM_SLIDE_LAYOUT" val="a_f"/>
  <p:tag name="KSO_WM_SLIDE_LAYOUT_CNT" val="1_1"/>
  <p:tag name="KSO_WM_SLIDE_THEME_ID" val="3321273"/>
  <p:tag name="KSO_WM_SLIDE_THEME_NAME" val="Z_20238023_Green Gradient"/>
</p:tagLst>
</file>

<file path=ppt/theme/theme1.xml><?xml version="1.0" encoding="utf-8"?>
<a:theme xmlns:a="http://schemas.openxmlformats.org/drawingml/2006/main" name="2_Office Theme">
  <a:themeElements>
    <a:clrScheme name="自定义 54">
      <a:dk1>
        <a:srgbClr val="000000"/>
      </a:dk1>
      <a:lt1>
        <a:srgbClr val="FFFFFF"/>
      </a:lt1>
      <a:dk2>
        <a:srgbClr val="071A00"/>
      </a:dk2>
      <a:lt2>
        <a:srgbClr val="F7FFF7"/>
      </a:lt2>
      <a:accent1>
        <a:srgbClr val="00B212"/>
      </a:accent1>
      <a:accent2>
        <a:srgbClr val="EEC120"/>
      </a:accent2>
      <a:accent3>
        <a:srgbClr val="1F77C8"/>
      </a:accent3>
      <a:accent4>
        <a:srgbClr val="00B6B6"/>
      </a:accent4>
      <a:accent5>
        <a:srgbClr val="E58C06"/>
      </a:accent5>
      <a:accent6>
        <a:srgbClr val="B25D00"/>
      </a:accent6>
      <a:hlink>
        <a:srgbClr val="5FCBFB"/>
      </a:hlink>
      <a:folHlink>
        <a:srgbClr val="B759BC"/>
      </a:folHlink>
    </a:clrScheme>
    <a:fontScheme name="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1">
                <a:alpha val="18000"/>
              </a:schemeClr>
            </a:gs>
            <a:gs pos="100000">
              <a:schemeClr val="accent1">
                <a:alpha val="2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lang="en-US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>
              <a:alpha val="32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lang="en-US" sz="2000" b="1" spc="300" dirty="0">
            <a:solidFill>
              <a:schemeClr val="accent1">
                <a:lumMod val="50000"/>
              </a:schemeClr>
            </a:solidFill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8700</Words>
  <Application>WPS Presentation</Application>
  <PresentationFormat>Widescreen</PresentationFormat>
  <Paragraphs>138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Nunito Sans ExtraBold</vt:lpstr>
      <vt:lpstr>Nunito Sans</vt:lpstr>
      <vt:lpstr>2_Office Theme</vt:lpstr>
      <vt:lpstr>Predicting the well being score of participants</vt:lpstr>
      <vt:lpstr>Introduction</vt:lpstr>
      <vt:lpstr>Objectives </vt:lpstr>
      <vt:lpstr>Linear Regression</vt:lpstr>
      <vt:lpstr>PowerPoint 演示文稿</vt:lpstr>
      <vt:lpstr>Datasets Overview</vt:lpstr>
      <vt:lpstr>PowerPoint 演示文稿</vt:lpstr>
      <vt:lpstr>PowerPoint 演示文稿</vt:lpstr>
      <vt:lpstr>PowerPoint 演示文稿</vt:lpstr>
      <vt:lpstr>Data exploration</vt:lpstr>
      <vt:lpstr>Explanation of steps.</vt:lpstr>
      <vt:lpstr>PowerPoint 演示文稿</vt:lpstr>
      <vt:lpstr>Expected Results</vt:lpstr>
      <vt:lpstr>PowerPoint 演示文稿</vt:lpstr>
      <vt:lpstr>PowerPoint 演示文稿</vt:lpstr>
      <vt:lpstr>PowerPoint 演示文稿</vt:lpstr>
      <vt:lpstr>Key Insights</vt:lpstr>
      <vt:lpstr>PowerPoint 演示文稿</vt:lpstr>
      <vt:lpstr>PowerPoint 演示文稿</vt:lpstr>
      <vt:lpstr>Conclusion</vt:lpstr>
      <vt:lpstr>PowerPoint 演示文稿</vt:lpstr>
      <vt:lpstr>Thankyou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well being score of participants</dc:title>
  <dc:creator/>
  <cp:lastModifiedBy>acer</cp:lastModifiedBy>
  <cp:revision>3</cp:revision>
  <dcterms:created xsi:type="dcterms:W3CDTF">2024-09-08T09:54:00Z</dcterms:created>
  <dcterms:modified xsi:type="dcterms:W3CDTF">2024-09-09T07:26:53Z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2AF7326DE19F4C91915C1A1F875E6535_11</vt:lpwstr>
  </property>
  <property fmtid="{D5CDD505-2E9C-101B-9397-08002B2CF9AE}" pid="3" name="KSOProductBuildVer">
    <vt:lpwstr>1033-12.2.0.18165</vt:lpwstr>
  </property>
</Properties>
</file>